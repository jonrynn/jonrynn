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  <p:sldId id="271" r:id="rId16"/>
    <p:sldId id="272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4" d="100"/>
          <a:sy n="164" d="100"/>
        </p:scale>
        <p:origin x="-125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interSettings" Target="printerSettings/printerSettings1.bin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2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3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24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8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1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9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7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F97AF-1FC5-8D49-B859-9E7851AD569C}" type="datetimeFigureOut">
              <a:rPr lang="en-US" smtClean="0"/>
              <a:t>10/20/12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8600F-FBBF-6C4B-BCEC-F80EB52FF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5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gi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8935"/>
            <a:ext cx="7772400" cy="1393500"/>
          </a:xfrm>
        </p:spPr>
        <p:txBody>
          <a:bodyPr/>
          <a:lstStyle/>
          <a:p>
            <a:r>
              <a:rPr lang="en-US" dirty="0" smtClean="0"/>
              <a:t>Restructuring the Economy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83258"/>
            <a:ext cx="6400800" cy="1271093"/>
          </a:xfrm>
        </p:spPr>
        <p:txBody>
          <a:bodyPr/>
          <a:lstStyle/>
          <a:p>
            <a:r>
              <a:rPr lang="en-US" dirty="0" smtClean="0"/>
              <a:t>Transforming manufacturing to create a green, sustainable model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90267" y="3701481"/>
            <a:ext cx="52738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Jon Rynn</a:t>
            </a:r>
          </a:p>
          <a:p>
            <a:pPr algn="ctr"/>
            <a:r>
              <a:rPr lang="en-US" dirty="0" smtClean="0"/>
              <a:t>Presented at the Economic Democracy Conference</a:t>
            </a:r>
          </a:p>
          <a:p>
            <a:pPr algn="ctr"/>
            <a:r>
              <a:rPr lang="en-US" dirty="0" smtClean="0"/>
              <a:t>October 11, 2012</a:t>
            </a:r>
          </a:p>
          <a:p>
            <a:pPr algn="ctr"/>
            <a:r>
              <a:rPr lang="en-US" dirty="0" smtClean="0"/>
              <a:t>Madison Wisconsin</a:t>
            </a:r>
          </a:p>
          <a:p>
            <a:pPr algn="ctr"/>
            <a:r>
              <a:rPr lang="en-US" sz="1200" dirty="0" err="1" smtClean="0"/>
              <a:t>ManufacturingGreenProsperity.com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94461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Systemic problems…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manufacturing </a:t>
            </a:r>
            <a:r>
              <a:rPr lang="en-US" dirty="0" smtClean="0"/>
              <a:t>base,  which </a:t>
            </a:r>
            <a:r>
              <a:rPr lang="en-US" dirty="0"/>
              <a:t>is the foundation of a wealthy economy and a middle class, is disappearing</a:t>
            </a:r>
            <a:r>
              <a:rPr lang="en-US" dirty="0" smtClean="0">
                <a:effectLst/>
              </a:rPr>
              <a:t> </a:t>
            </a:r>
          </a:p>
          <a:p>
            <a:r>
              <a:rPr lang="en-US" dirty="0"/>
              <a:t>Income inequality is leading to a plutocracy of billionaires who </a:t>
            </a:r>
            <a:r>
              <a:rPr lang="en-US" dirty="0" smtClean="0"/>
              <a:t>control the </a:t>
            </a:r>
            <a:r>
              <a:rPr lang="en-US" dirty="0"/>
              <a:t>political system</a:t>
            </a:r>
            <a:r>
              <a:rPr lang="en-US" dirty="0" smtClean="0">
                <a:effectLst/>
              </a:rPr>
              <a:t> </a:t>
            </a:r>
          </a:p>
          <a:p>
            <a:r>
              <a:rPr lang="en-US" dirty="0" smtClean="0"/>
              <a:t>Global warming</a:t>
            </a:r>
          </a:p>
          <a:p>
            <a:r>
              <a:rPr lang="en-US" dirty="0"/>
              <a:t>The end of cheap fossil fuels (e.g., peak oil)</a:t>
            </a:r>
          </a:p>
          <a:p>
            <a:r>
              <a:rPr lang="en-US" dirty="0" smtClean="0"/>
              <a:t>Ecosystem destruction (Desert Earth)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74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…Require systemic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19982"/>
          </a:xfrm>
        </p:spPr>
        <p:txBody>
          <a:bodyPr/>
          <a:lstStyle/>
          <a:p>
            <a:r>
              <a:rPr lang="en-US" sz="2800" dirty="0"/>
              <a:t>We need an interlocking set of large-scale solutions to our civilization-threatening problems</a:t>
            </a:r>
          </a:p>
          <a:p>
            <a:r>
              <a:rPr lang="en-US" sz="2800" dirty="0" smtClean="0"/>
              <a:t>We </a:t>
            </a:r>
            <a:r>
              <a:rPr lang="en-US" sz="2800" dirty="0"/>
              <a:t>need to set up a clear vision of what a sustainable, just society would look like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We need to go on the offensive </a:t>
            </a:r>
            <a:endParaRPr lang="en-US" sz="2800" dirty="0"/>
          </a:p>
          <a:p>
            <a:r>
              <a:rPr lang="en-US" sz="2800" dirty="0" smtClean="0"/>
              <a:t>We need a concrete platform for elections</a:t>
            </a:r>
          </a:p>
          <a:p>
            <a:r>
              <a:rPr lang="en-US" sz="2800" dirty="0" smtClean="0"/>
              <a:t>Solutions should be government-base</a:t>
            </a:r>
            <a:r>
              <a:rPr lang="en-US" dirty="0" smtClean="0"/>
              <a:t>d</a:t>
            </a:r>
            <a:endParaRPr lang="en-US" dirty="0"/>
          </a:p>
          <a:p>
            <a:r>
              <a:rPr lang="en-US" sz="2800" dirty="0" smtClean="0"/>
              <a:t>Cost should be in trillions, over 10 to 20 </a:t>
            </a:r>
            <a:r>
              <a:rPr lang="en-US" dirty="0" smtClean="0"/>
              <a:t>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846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goals?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05162"/>
          </a:xfrm>
        </p:spPr>
        <p:txBody>
          <a:bodyPr>
            <a:normAutofit/>
          </a:bodyPr>
          <a:lstStyle/>
          <a:p>
            <a:r>
              <a:rPr lang="en-US" dirty="0" smtClean="0"/>
              <a:t>Eliminate unemployment and poverty or, guarantee everyone a good job</a:t>
            </a:r>
          </a:p>
          <a:p>
            <a:r>
              <a:rPr lang="en-US" dirty="0" smtClean="0"/>
              <a:t>Indefinitely sustainable economic growth for the entire population</a:t>
            </a:r>
          </a:p>
          <a:p>
            <a:r>
              <a:rPr lang="en-US" dirty="0" smtClean="0"/>
              <a:t>Environmentally sustainable – over eons</a:t>
            </a:r>
          </a:p>
          <a:p>
            <a:pPr lvl="1"/>
            <a:r>
              <a:rPr lang="en-US" dirty="0" smtClean="0"/>
              <a:t>Carbon-free</a:t>
            </a:r>
          </a:p>
          <a:p>
            <a:pPr lvl="1"/>
            <a:r>
              <a:rPr lang="en-US" dirty="0" smtClean="0"/>
              <a:t>Pollution and garbage free</a:t>
            </a:r>
          </a:p>
          <a:p>
            <a:pPr lvl="1"/>
            <a:r>
              <a:rPr lang="en-US" dirty="0" smtClean="0"/>
              <a:t>Without using up natural capital</a:t>
            </a:r>
          </a:p>
          <a:p>
            <a:r>
              <a:rPr lang="en-US" dirty="0" smtClean="0"/>
              <a:t>Economic and political democracy</a:t>
            </a:r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200267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the economy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05162"/>
          </a:xfrm>
        </p:spPr>
        <p:txBody>
          <a:bodyPr/>
          <a:lstStyle/>
          <a:p>
            <a:r>
              <a:rPr lang="en-US" dirty="0" smtClean="0"/>
              <a:t>The economy is a system – an ecosystem</a:t>
            </a:r>
          </a:p>
          <a:p>
            <a:r>
              <a:rPr lang="en-US" dirty="0" smtClean="0"/>
              <a:t>An economy has many functional parts</a:t>
            </a:r>
          </a:p>
          <a:p>
            <a:r>
              <a:rPr lang="en-US" dirty="0" smtClean="0"/>
              <a:t>Each part is critical</a:t>
            </a:r>
          </a:p>
          <a:p>
            <a:r>
              <a:rPr lang="en-US" dirty="0" smtClean="0"/>
              <a:t>Each part needs to be physically close</a:t>
            </a:r>
          </a:p>
          <a:p>
            <a:r>
              <a:rPr lang="en-US" dirty="0" smtClean="0"/>
              <a:t>If we look at the economy as a system of production, manufacturing is at the center, as plants are at the center of an ecosystem</a:t>
            </a:r>
          </a:p>
          <a:p>
            <a:r>
              <a:rPr lang="en-US" dirty="0" smtClean="0"/>
              <a:t>Retail and finance distribute that which production system creates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193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83198" y="278773"/>
            <a:ext cx="507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Economy as a production and distribution system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144000" cy="563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64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1968500"/>
            <a:ext cx="5651500" cy="292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07283" y="573033"/>
            <a:ext cx="278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production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4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1778000"/>
            <a:ext cx="9080500" cy="3289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194" y="526571"/>
            <a:ext cx="612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Reproduction machinery is the source of economic 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03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0"/>
            <a:ext cx="715617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7212" y="154874"/>
            <a:ext cx="5095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Services are what you do with manufactured goods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46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075842"/>
            <a:ext cx="5486400" cy="408876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379450" y="771600"/>
            <a:ext cx="493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wealthy country can’t trade services for goods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4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043105"/>
            <a:ext cx="5486400" cy="42506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540224" y="771600"/>
            <a:ext cx="4115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Manufacturing anchors the middle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2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73285"/>
            <a:ext cx="5486400" cy="484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828800" y="594775"/>
            <a:ext cx="5369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Manufacturing should anchor the GDP, not Finance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697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38855"/>
            <a:ext cx="5486400" cy="48412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266908" y="771600"/>
            <a:ext cx="504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Manufacturing middle class, finance upper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2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90" y="635135"/>
            <a:ext cx="8356209" cy="62671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321" y="273275"/>
            <a:ext cx="750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wealthiest economies have the biggest production machinery sectors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058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Peak Oil hurting economy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13802" b="138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4486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Other eco-problems hurting the economy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Global warming causing droughts, etc.</a:t>
            </a:r>
          </a:p>
          <a:p>
            <a:r>
              <a:rPr lang="en-US" dirty="0" smtClean="0"/>
              <a:t>Agriculture destroying soil, polluting water</a:t>
            </a:r>
          </a:p>
          <a:p>
            <a:r>
              <a:rPr lang="en-US" dirty="0" smtClean="0"/>
              <a:t>Natural gas </a:t>
            </a:r>
            <a:r>
              <a:rPr lang="en-US" dirty="0" err="1" smtClean="0"/>
              <a:t>fracking</a:t>
            </a:r>
            <a:r>
              <a:rPr lang="en-US" dirty="0" smtClean="0"/>
              <a:t> threatening water</a:t>
            </a:r>
          </a:p>
          <a:p>
            <a:r>
              <a:rPr lang="en-US" dirty="0" smtClean="0"/>
              <a:t>Oil polluting oceans, threatens fresh water</a:t>
            </a:r>
          </a:p>
          <a:p>
            <a:r>
              <a:rPr lang="en-US" dirty="0" smtClean="0"/>
              <a:t>Coal major pollution problem</a:t>
            </a:r>
          </a:p>
          <a:p>
            <a:r>
              <a:rPr lang="en-US" dirty="0" smtClean="0"/>
              <a:t>Shortages in other materials like phosphorus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398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restore the economy?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As manufacturing goes, so goes the economy</a:t>
            </a:r>
          </a:p>
          <a:p>
            <a:r>
              <a:rPr lang="en-US" dirty="0" smtClean="0"/>
              <a:t>Middle class is dependent on manufacturing</a:t>
            </a:r>
          </a:p>
          <a:p>
            <a:r>
              <a:rPr lang="en-US" dirty="0" smtClean="0"/>
              <a:t>Government revenues dependent also</a:t>
            </a:r>
          </a:p>
          <a:p>
            <a:r>
              <a:rPr lang="en-US" dirty="0" smtClean="0"/>
              <a:t>Manufacturing needs stable demand</a:t>
            </a:r>
          </a:p>
          <a:p>
            <a:r>
              <a:rPr lang="en-US" dirty="0" smtClean="0"/>
              <a:t>Needs more than trade protection</a:t>
            </a:r>
          </a:p>
          <a:p>
            <a:r>
              <a:rPr lang="en-US" dirty="0" smtClean="0"/>
              <a:t>Need to stop using fossil fuels</a:t>
            </a:r>
          </a:p>
          <a:p>
            <a:r>
              <a:rPr lang="en-US" dirty="0" smtClean="0"/>
              <a:t>Need sustainable agriculture</a:t>
            </a:r>
          </a:p>
          <a:p>
            <a:r>
              <a:rPr lang="en-US" dirty="0" smtClean="0"/>
              <a:t>Need to keep ecosystems intact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3345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Need to solve ecological and economic problems together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Market can’t solve long-term, systemic problems</a:t>
            </a:r>
          </a:p>
          <a:p>
            <a:r>
              <a:rPr lang="en-US" dirty="0" smtClean="0"/>
              <a:t>Only government can design and finance</a:t>
            </a:r>
          </a:p>
          <a:p>
            <a:r>
              <a:rPr lang="en-US" dirty="0" smtClean="0"/>
              <a:t>Government can guarantee 20 year program</a:t>
            </a:r>
          </a:p>
          <a:p>
            <a:r>
              <a:rPr lang="en-US" dirty="0" smtClean="0"/>
              <a:t>Government can require domestic content</a:t>
            </a:r>
          </a:p>
          <a:p>
            <a:r>
              <a:rPr lang="en-US" dirty="0" smtClean="0"/>
              <a:t>Even WTO says “general infrastructure” is OK to subsidize and require domestic content</a:t>
            </a:r>
          </a:p>
          <a:p>
            <a:r>
              <a:rPr lang="en-US" dirty="0" smtClean="0"/>
              <a:t>By rebuilding the infrastructure, can rebuild manufacturing; by rebuilding manufacturing, can rebuild economy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823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1195070"/>
            <a:ext cx="5920489" cy="518670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30553" y="401875"/>
            <a:ext cx="803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Green Transformation: Rebuild the infrastructure and manufacturing over 20 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10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1900"/>
            <a:ext cx="9144000" cy="57600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862" y="321500"/>
            <a:ext cx="7733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Interstate Wind System, plus an Interstate Smart Grid, plus…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74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1003300"/>
            <a:ext cx="9042400" cy="5854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4089" y="305425"/>
            <a:ext cx="831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…an Interstate High-Speed Rail system, equals Interstate Sustainability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900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965200"/>
            <a:ext cx="2019300" cy="589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857" y="305425"/>
            <a:ext cx="819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Sustainable buildings: Solar panels on top, heat pump below, insulated with battery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34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44" y="1123370"/>
            <a:ext cx="6574581" cy="5518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553" y="265434"/>
            <a:ext cx="81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urban area the size of NYC, with 20% of population in intensive organic farming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249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can government help?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Recycling would be government function</a:t>
            </a:r>
          </a:p>
          <a:p>
            <a:r>
              <a:rPr lang="en-US" dirty="0" smtClean="0"/>
              <a:t>Efficiency bank for building improvements</a:t>
            </a:r>
          </a:p>
          <a:p>
            <a:r>
              <a:rPr lang="en-US" sz="2800" dirty="0" smtClean="0"/>
              <a:t>Manufacturing service for no-pollution and conversion to reusable and recyclable production</a:t>
            </a:r>
          </a:p>
          <a:p>
            <a:r>
              <a:rPr lang="en-US" sz="2800" dirty="0" smtClean="0"/>
              <a:t>Government financing for relocation to city region</a:t>
            </a:r>
          </a:p>
          <a:p>
            <a:r>
              <a:rPr lang="en-US" sz="2800" dirty="0" smtClean="0"/>
              <a:t>Government financing for intensive organic farming, including subsidized produce</a:t>
            </a:r>
          </a:p>
          <a:p>
            <a:r>
              <a:rPr lang="en-US" sz="2800" dirty="0" smtClean="0"/>
              <a:t>National employment system, guaranteeing job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274617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This preserves physical and eco-capital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Approximately 30 major urban regions would only use about 2% of the land area of U.S.</a:t>
            </a:r>
          </a:p>
          <a:p>
            <a:r>
              <a:rPr lang="en-US" dirty="0" smtClean="0"/>
              <a:t>Most of the rest of the 98% could revert to natural ecosystems, e.g. prairies and forests</a:t>
            </a:r>
          </a:p>
          <a:p>
            <a:r>
              <a:rPr lang="en-US" dirty="0" smtClean="0"/>
              <a:t>Urban regions would be linked by Interstate Systems</a:t>
            </a:r>
          </a:p>
          <a:p>
            <a:r>
              <a:rPr lang="en-US" dirty="0" smtClean="0"/>
              <a:t>No fossil fuel use, little or no mining</a:t>
            </a:r>
          </a:p>
          <a:p>
            <a:r>
              <a:rPr lang="en-US" dirty="0" smtClean="0"/>
              <a:t>Manufacturing rebuilt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85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need to rebuild human capital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Universal health care system</a:t>
            </a:r>
          </a:p>
          <a:p>
            <a:pPr lvl="1"/>
            <a:r>
              <a:rPr lang="en-US" dirty="0" smtClean="0"/>
              <a:t>Medicare for all, expanded Medicare</a:t>
            </a:r>
          </a:p>
          <a:p>
            <a:pPr lvl="1"/>
            <a:r>
              <a:rPr lang="en-US" dirty="0" smtClean="0"/>
              <a:t>National system of clinics</a:t>
            </a:r>
          </a:p>
          <a:p>
            <a:pPr lvl="1"/>
            <a:r>
              <a:rPr lang="en-US" dirty="0" smtClean="0"/>
              <a:t>Buy out health insurance companies</a:t>
            </a:r>
          </a:p>
          <a:p>
            <a:r>
              <a:rPr lang="en-US" dirty="0" smtClean="0"/>
              <a:t>Federal Education System</a:t>
            </a:r>
          </a:p>
          <a:p>
            <a:pPr lvl="1"/>
            <a:r>
              <a:rPr lang="en-US" dirty="0" smtClean="0"/>
              <a:t>Provide half of payroll to get class size to 15</a:t>
            </a:r>
          </a:p>
          <a:p>
            <a:pPr lvl="1"/>
            <a:r>
              <a:rPr lang="en-US" dirty="0" smtClean="0"/>
              <a:t>Provide payroll for science, tech, art teachers</a:t>
            </a:r>
          </a:p>
          <a:p>
            <a:pPr lvl="1"/>
            <a:r>
              <a:rPr lang="en-US" dirty="0" smtClean="0"/>
              <a:t>Universal childcare from birth through preschool</a:t>
            </a:r>
          </a:p>
          <a:p>
            <a:pPr lvl="1"/>
            <a:r>
              <a:rPr lang="en-US" dirty="0" smtClean="0"/>
              <a:t>Free public college</a:t>
            </a:r>
          </a:p>
          <a:p>
            <a:pPr lvl="1"/>
            <a:r>
              <a:rPr lang="en-US" dirty="0" smtClean="0"/>
              <a:t>Technical school/college/apprenticeship system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5245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democratize economy?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Must be part of an economy that can generate wealth, that has manufacturing sector</a:t>
            </a:r>
          </a:p>
          <a:p>
            <a:r>
              <a:rPr lang="en-US" dirty="0" smtClean="0"/>
              <a:t>Must be part of an economy that is ecologically sustainable</a:t>
            </a:r>
          </a:p>
          <a:p>
            <a:r>
              <a:rPr lang="en-US" dirty="0" smtClean="0"/>
              <a:t>Encourage employee ownership</a:t>
            </a:r>
          </a:p>
          <a:p>
            <a:r>
              <a:rPr lang="en-US" dirty="0" smtClean="0"/>
              <a:t>Democratize the financial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903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National Employee Ownership System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Based on Mondragon Cooperative System</a:t>
            </a:r>
          </a:p>
          <a:p>
            <a:pPr lvl="1"/>
            <a:r>
              <a:rPr lang="en-US" dirty="0" smtClean="0"/>
              <a:t>Firms 100% owned by employees</a:t>
            </a:r>
          </a:p>
          <a:p>
            <a:pPr lvl="1"/>
            <a:r>
              <a:rPr lang="en-US" dirty="0" smtClean="0"/>
              <a:t>Can’t sell shares</a:t>
            </a:r>
          </a:p>
          <a:p>
            <a:pPr lvl="1"/>
            <a:r>
              <a:rPr lang="en-US" dirty="0" smtClean="0"/>
              <a:t>Bank at center of system, helps startups</a:t>
            </a:r>
          </a:p>
          <a:p>
            <a:r>
              <a:rPr lang="en-US" dirty="0" smtClean="0"/>
              <a:t>Each Congressional District (CD) has its own Mondragon-like system</a:t>
            </a:r>
          </a:p>
          <a:p>
            <a:pPr lvl="1"/>
            <a:r>
              <a:rPr lang="en-US" dirty="0" smtClean="0"/>
              <a:t>Congressperson as head of board</a:t>
            </a:r>
          </a:p>
          <a:p>
            <a:pPr lvl="1"/>
            <a:r>
              <a:rPr lang="en-US" dirty="0" smtClean="0"/>
              <a:t>Regional and National versions</a:t>
            </a:r>
          </a:p>
          <a:p>
            <a:r>
              <a:rPr lang="en-US" dirty="0" smtClean="0"/>
              <a:t>Seed money from Federal government</a:t>
            </a:r>
          </a:p>
          <a:p>
            <a:r>
              <a:rPr lang="en-US" dirty="0" smtClean="0"/>
              <a:t>Use with Green Transformation program</a:t>
            </a:r>
          </a:p>
        </p:txBody>
      </p:sp>
    </p:spTree>
    <p:extLst>
      <p:ext uri="{BB962C8B-B14F-4D97-AF65-F5344CB8AC3E}">
        <p14:creationId xmlns:p14="http://schemas.microsoft.com/office/powerpoint/2010/main" val="799537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Congressional Districts</a:t>
            </a:r>
            <a:endParaRPr lang="en-US" dirty="0"/>
          </a:p>
        </p:txBody>
      </p:sp>
      <p:pic>
        <p:nvPicPr>
          <p:cNvPr id="4" name="Content Placeholder 3" descr="http://nationalatlas.gov/printable/images/preview/congdist/pagecgd112_us-pastel.gif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80" b="13780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2467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71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828</Words>
  <Application>Microsoft Macintosh PowerPoint</Application>
  <PresentationFormat>On-screen Show (4:3)</PresentationFormat>
  <Paragraphs>114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Restructuring the Economy</vt:lpstr>
      <vt:lpstr>Systemic problems…</vt:lpstr>
      <vt:lpstr>…Require systemic solutions</vt:lpstr>
      <vt:lpstr>What are the goals?</vt:lpstr>
      <vt:lpstr>How does the economy work?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Peak Oil hurting economy</vt:lpstr>
      <vt:lpstr>Other eco-problems hurting the economy</vt:lpstr>
      <vt:lpstr>How to restore the economy?</vt:lpstr>
      <vt:lpstr>Need to solve ecological and economic problems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can government help?</vt:lpstr>
      <vt:lpstr>This preserves physical and eco-capital</vt:lpstr>
      <vt:lpstr>We need to rebuild human capital</vt:lpstr>
      <vt:lpstr>How democratize economy?</vt:lpstr>
      <vt:lpstr>National Employee Ownership System</vt:lpstr>
      <vt:lpstr>Congressional Districts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Restructuring the Economy</dc:title>
  <dc:creator>Jonathan Rynn</dc:creator>
  <cp:lastModifiedBy>Jonathan Rynn</cp:lastModifiedBy>
  <cp:revision>41</cp:revision>
  <dcterms:created xsi:type="dcterms:W3CDTF">2012-10-07T19:31:58Z</dcterms:created>
  <dcterms:modified xsi:type="dcterms:W3CDTF">2012-10-20T18:44:34Z</dcterms:modified>
</cp:coreProperties>
</file>